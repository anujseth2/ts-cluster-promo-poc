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ThoughtSpot · Cross-Cluster Promotion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for promoting content across clusters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658368" y="361188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 app that moves liveboards, models, tables, Spotter feedback and NL instructions between ThoughtSpot clusters — identity-preserving, validated before it lands, with user-scoped SSO/OAuth and Unity Catalog.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489204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2333C"/>
          </a:solidFill>
          <a:ln w="12700">
            <a:solidFill>
              <a:srgbClr val="1E4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5074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Update-in-place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5486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duplicated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15968" y="489204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2333C"/>
          </a:solidFill>
          <a:ln w="12700">
            <a:solidFill>
              <a:srgbClr val="1E4A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7136" y="5074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17136" y="5486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it lands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73568" y="4892040"/>
            <a:ext cx="3429000" cy="1051560"/>
          </a:xfrm>
          <a:prstGeom prst="roundRect">
            <a:avLst>
              <a:gd name="adj" fmla="val 8696"/>
            </a:avLst>
          </a:prstGeom>
          <a:solidFill>
            <a:srgbClr val="12333C"/>
          </a:solidFill>
          <a:ln w="12700">
            <a:solidFill>
              <a:srgbClr val="1E4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74736" y="5074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User-scoped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74736" y="5486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SSO / OAuth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7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ts-cluster-promo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 full stack, safely, across clusters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29968"/>
            <a:ext cx="457200" cy="45720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whole stack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3383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Liveboards, models, tables, Spotter feedback and NL instructions move together — resolve one object and its dependencies come with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1737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029968"/>
            <a:ext cx="457200" cy="45720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17720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Identity-preserving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383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obj_id keeps each target object updated in place, never duplicated — a renamed or drifted table is matched and re-aligned automatically.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74736" y="1737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0768" y="2029968"/>
            <a:ext cx="457200" cy="457200"/>
          </a:xfrm>
          <a:prstGeom prst="ellipse">
            <a:avLst/>
          </a:prstGeom>
          <a:solidFill>
            <a:srgbClr val="0E7C8B"/>
          </a:solidFill>
          <a:ln w="12700">
            <a:solidFill>
              <a:srgbClr val="0E7C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30768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30768" y="3383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validated against the target cluster and its warehouse before anything lands; import blockers are discovered and resolved up front.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hub, connected to everything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75488" y="2395728"/>
            <a:ext cx="2724912" cy="2084832"/>
          </a:xfrm>
          <a:prstGeom prst="roundRect">
            <a:avLst>
              <a:gd name="adj" fmla="val 3947"/>
            </a:avLst>
          </a:prstGeom>
          <a:ln w="12700">
            <a:solidFill>
              <a:srgbClr val="AEBDC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03504" y="2295144"/>
            <a:ext cx="15544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ORG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98864" y="1993392"/>
            <a:ext cx="2615184" cy="2852928"/>
          </a:xfrm>
          <a:prstGeom prst="roundRect">
            <a:avLst>
              <a:gd name="adj" fmla="val 3147"/>
            </a:avLst>
          </a:prstGeom>
          <a:ln w="12700">
            <a:solidFill>
              <a:srgbClr val="AEBDC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9326880" y="1892808"/>
            <a:ext cx="15544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E71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ORG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3108960"/>
            <a:ext cx="2697480" cy="1097280"/>
          </a:xfrm>
          <a:prstGeom prst="roundRect">
            <a:avLst>
              <a:gd name="adj" fmla="val 7500"/>
            </a:avLst>
          </a:prstGeom>
          <a:solidFill>
            <a:srgbClr val="0E7C8B"/>
          </a:solidFill>
          <a:ln w="19050">
            <a:solidFill>
              <a:srgbClr val="0A5A66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3218688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HUB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64608" y="3438144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64608" y="3749040"/>
            <a:ext cx="2478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all systems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3232" y="3108960"/>
            <a:ext cx="22402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D3DEE4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218688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· THOUGHTSPOT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" y="3438144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cluster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2020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418320" y="2331720"/>
            <a:ext cx="21488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3DEE4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28048" y="2441448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· THOUGHTSPOT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528048" y="266090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cluster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28048" y="2971800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· obj_id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418320" y="3657600"/>
            <a:ext cx="21488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0E9E8C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28048" y="3767328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CDW · WAREHOUSE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528048" y="398678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CDW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28048" y="4297680"/>
            <a:ext cx="1929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Unity Catalog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5212080"/>
            <a:ext cx="26974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9050">
            <a:solidFill>
              <a:srgbClr val="7A52B3"/>
            </a:solidFill>
            <a:prstDash val="solid"/>
          </a:ln>
          <a:effectLst>
            <a:outerShdw sx="100000" sy="100000" kx="0" ky="0" algn="bl" rotWithShape="0" blurRad="76200" dist="25400" dir="5400000">
              <a:srgbClr val="8AA0AC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64608" y="5321808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7A52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BRIDGE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64608" y="5541264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main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64608" y="5852160"/>
            <a:ext cx="24780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squash-merge PR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87552" y="27432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E9E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SSO + OAuth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46920" y="196596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E9E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SSO + OAuth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613562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7A52B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OAuth / GitHub App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53512" y="3419856"/>
            <a:ext cx="1801368" cy="0"/>
          </a:xfrm>
          <a:prstGeom prst="line">
            <a:avLst/>
          </a:prstGeom>
          <a:noFill/>
          <a:ln w="25400">
            <a:solidFill>
              <a:srgbClr val="0A5A6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717036" y="3282696"/>
            <a:ext cx="274320" cy="274320"/>
          </a:xfrm>
          <a:prstGeom prst="ellipse">
            <a:avLst/>
          </a:prstGeom>
          <a:solidFill>
            <a:srgbClr val="0A5A6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17036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76956" y="3145536"/>
            <a:ext cx="15544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TML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53512" y="3895344"/>
            <a:ext cx="1801368" cy="0"/>
          </a:xfrm>
          <a:prstGeom prst="line">
            <a:avLst/>
          </a:prstGeom>
          <a:noFill/>
          <a:ln w="19050">
            <a:solidFill>
              <a:srgbClr val="C0417A"/>
            </a:solidFill>
            <a:prstDash val="dash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076956" y="3968496"/>
            <a:ext cx="15544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4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 · read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32120" y="4206240"/>
            <a:ext cx="0" cy="1005840"/>
          </a:xfrm>
          <a:prstGeom prst="line">
            <a:avLst/>
          </a:prstGeom>
          <a:noFill/>
          <a:ln w="25400">
            <a:solidFill>
              <a:srgbClr val="7A52B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394960" y="4572000"/>
            <a:ext cx="274320" cy="274320"/>
          </a:xfrm>
          <a:prstGeom prst="ellipse">
            <a:avLst/>
          </a:prstGeom>
          <a:solidFill>
            <a:srgbClr val="7A52B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4892040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52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· PR · merge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675120" y="5212080"/>
            <a:ext cx="0" cy="-1005840"/>
          </a:xfrm>
          <a:prstGeom prst="line">
            <a:avLst/>
          </a:prstGeom>
          <a:noFill/>
          <a:ln w="25400">
            <a:solidFill>
              <a:srgbClr val="7A52B3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537960" y="4572000"/>
            <a:ext cx="274320" cy="274320"/>
          </a:xfrm>
          <a:prstGeom prst="ellipse">
            <a:avLst/>
          </a:prstGeom>
          <a:solidFill>
            <a:srgbClr val="7A52B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89320" y="4297680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52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merged main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52360" y="3291840"/>
            <a:ext cx="1965960" cy="-594360"/>
          </a:xfrm>
          <a:prstGeom prst="line">
            <a:avLst/>
          </a:prstGeom>
          <a:noFill/>
          <a:ln w="25400">
            <a:solidFill>
              <a:srgbClr val="0E7C8B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626096" y="3063240"/>
            <a:ext cx="274320" cy="274320"/>
          </a:xfrm>
          <a:prstGeom prst="ellipse">
            <a:avLst/>
          </a:prstGeom>
          <a:solidFill>
            <a:srgbClr val="0A5A6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6096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818120" y="2487168"/>
            <a:ext cx="15544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(obj_id)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452360" y="3675888"/>
            <a:ext cx="1965960" cy="-612648"/>
          </a:xfrm>
          <a:prstGeom prst="line">
            <a:avLst/>
          </a:prstGeom>
          <a:noFill/>
          <a:ln w="19050">
            <a:solidFill>
              <a:srgbClr val="C0417A"/>
            </a:solidFill>
            <a:prstDash val="dash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7882128" y="3163824"/>
            <a:ext cx="14173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4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 · write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452360" y="3977640"/>
            <a:ext cx="1965960" cy="137160"/>
          </a:xfrm>
          <a:prstGeom prst="line">
            <a:avLst/>
          </a:prstGeom>
          <a:noFill/>
          <a:ln w="20320">
            <a:solidFill>
              <a:srgbClr val="0E9E8C"/>
            </a:solidFill>
            <a:prstDash val="dash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7863840" y="4206240"/>
            <a:ext cx="16002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columns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 PROMOTION MOVES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hop runs through the app</a:t>
            </a:r>
            <a:endParaRPr lang="en-US" sz="3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794760"/>
                <a:gridCol w="3108960"/>
                <a:gridCol w="36576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TML + feedback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Source → App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71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metadata/tml/export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 · open PR · squash-merge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 → GitHub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71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commit / create_pr / merge_pr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merged main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GitHub → App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71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get_tml_files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in place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 → Target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71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metadata/tml/import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7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+ promote NL instructions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Source → App → Target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71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ai/instructions/get · set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7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until clean (loop)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 ⇄ Target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71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 · VALIDATE_ONLY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7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warehouse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 ⇄ Target CDW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71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connection/search · COLUMN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 are the Git round-trip. NL instructions ride a separate API path; validation and warehouse reads are read-only.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 &amp;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User-scoped, governed, no secrets on the box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75688"/>
            <a:ext cx="402336" cy="402336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clusters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56032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with OAuth — the promotion runs as the signed-in user; no long-lived service tokens.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75688"/>
            <a:ext cx="402336" cy="402336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86600" y="2057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bridge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6248" y="256032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/ GitHub App — short-lived, fine-grained tokens; commits attributed to the user.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95928"/>
            <a:ext cx="402336" cy="402336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95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9776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44805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access delegated through the ThoughtSpot connection — the app holds no warehouse credential.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70332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995928"/>
            <a:ext cx="402336" cy="402336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995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39776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least privilege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56248" y="44805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identity on every action; DATAMANAGEMENT for obj_id writes, SPOTTER_COACHING for NL, granted explicitly.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reliable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alignment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23591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obj_id + a table matcher pair renamed / drifted objects, so imports update in place instead of duplicating.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15968" y="17373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5424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→ cascade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35424" y="23591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the target until clean: classify each blocker, drop it with its full dependency blast-radius, re-validate — to a fixpoint.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Broken-reference detection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02752" y="23591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dangling formula references the platform only reports as an opaque error — resolved automatically, no dead-ends.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10712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5935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promotion channels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403250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TML + feedback travel via the Git bridge; NL instructions promote directly through the ai/instructions API.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15968" y="3410712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35935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as source of truth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35424" y="403250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columns are diffed against Unity Catalog up front — no whack-a-mole, casing aligned automatically.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83296" y="3410712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1F5F7"/>
          </a:solidFill>
          <a:ln w="12700">
            <a:solidFill>
              <a:srgbClr val="D3DE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35935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isolation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2752" y="403250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current run's files import; the bridge repo accumulates safely without re-importing stale objects.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PRODUCTIONISE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it 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70048" cy="2880360"/>
          </a:xfrm>
          <a:prstGeom prst="roundRect">
            <a:avLst>
              <a:gd name="adj" fmla="val 3425"/>
            </a:avLst>
          </a:prstGeom>
          <a:solidFill>
            <a:srgbClr val="12333C"/>
          </a:solidFill>
          <a:ln w="12700">
            <a:solidFill>
              <a:srgbClr val="1E4A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441448"/>
            <a:ext cx="566928" cy="566928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6112" y="32004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379476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4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UI as a React app over the promotion service layer.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11296" y="2148840"/>
            <a:ext cx="2670048" cy="2880360"/>
          </a:xfrm>
          <a:prstGeom prst="roundRect">
            <a:avLst>
              <a:gd name="adj" fmla="val 3425"/>
            </a:avLst>
          </a:prstGeom>
          <a:solidFill>
            <a:srgbClr val="12333C"/>
          </a:solidFill>
          <a:ln w="12700">
            <a:solidFill>
              <a:srgbClr val="1E4A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67328" y="2441448"/>
            <a:ext cx="566928" cy="566928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67328" y="32004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OAuth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67328" y="379476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4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User-scoped sign-in to both clusters and the GitHub bridge; per-user audit.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82512" y="2148840"/>
            <a:ext cx="2670048" cy="2880360"/>
          </a:xfrm>
          <a:prstGeom prst="roundRect">
            <a:avLst>
              <a:gd name="adj" fmla="val 3425"/>
            </a:avLst>
          </a:prstGeom>
          <a:solidFill>
            <a:srgbClr val="12333C"/>
          </a:solidFill>
          <a:ln w="12700">
            <a:solidFill>
              <a:srgbClr val="1E4A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38544" y="2441448"/>
            <a:ext cx="566928" cy="566928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8544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38544" y="32004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38544" y="379476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4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UC connections; the existing column reads work delegated.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53728" y="2148840"/>
            <a:ext cx="2670048" cy="2880360"/>
          </a:xfrm>
          <a:prstGeom prst="roundRect">
            <a:avLst>
              <a:gd name="adj" fmla="val 3425"/>
            </a:avLst>
          </a:prstGeom>
          <a:solidFill>
            <a:srgbClr val="12333C"/>
          </a:solidFill>
          <a:ln w="12700">
            <a:solidFill>
              <a:srgbClr val="1E4A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0" y="2441448"/>
            <a:ext cx="566928" cy="566928"/>
          </a:xfrm>
          <a:prstGeom prst="ellipse">
            <a:avLst/>
          </a:prstGeom>
          <a:solidFill>
            <a:srgbClr val="0E9E8C"/>
          </a:solidFill>
          <a:ln w="12700">
            <a:solidFill>
              <a:srgbClr val="0E9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509760" y="32004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harden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509760" y="3794760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4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service, wire secrets/rotation, monitoring and access controls.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promotion engine — identity, discover/cascade, the two channels — is already built and proven; productionising is the shell, auth, and deployment.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ts-cluster-promo</dc:creator>
  <cp:lastModifiedBy>ts-cluster-promo</cp:lastModifiedBy>
  <cp:revision>1</cp:revision>
  <dcterms:created xsi:type="dcterms:W3CDTF">2026-07-24T16:37:38Z</dcterms:created>
  <dcterms:modified xsi:type="dcterms:W3CDTF">2026-07-24T16:37:38Z</dcterms:modified>
</cp:coreProperties>
</file>